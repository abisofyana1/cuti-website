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 Bold Italics" charset="1" panose="020F07020304040A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489" y="0"/>
            <a:ext cx="9348311" cy="10287000"/>
            <a:chOff x="0" y="0"/>
            <a:chExt cx="12464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4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64415">
                  <a:moveTo>
                    <a:pt x="0" y="0"/>
                  </a:moveTo>
                  <a:lnTo>
                    <a:pt x="12464415" y="0"/>
                  </a:lnTo>
                  <a:lnTo>
                    <a:pt x="12464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30840" y="1576530"/>
            <a:ext cx="6903720" cy="70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Use Case Diagram (Aplikasi E-Cuti)</a:t>
            </a:r>
          </a:p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Diagram ini menggambarkan interaksi antara aktor (pengguna) dengan fungsionalitas yang disediakan oleh sistem E-Cuti.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Aktor &amp; Hak Akses: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Pegawai (Karyawan):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Memiliki akses untuk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Melihat Riwayat Cuti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dan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Mengajukan Cuti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Atasan (Manajer/SPV):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Memiliki akses untuk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melakukan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Persetujuan Cuti (Approval)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terhadap pengajuan dari bawahannya.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/ HRD: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Memiliki akses untuk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Kelola Kuota Cuti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dan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Kelola Data Pegawai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Fungsi Global (</a:t>
            </a:r>
            <a:r>
              <a:rPr lang="en-US" b="true" sz="24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Login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Ketiga aktor tersebut wajib melakukan proses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terlebih dahulu sebelum dapat mengakses fitur-fitur utama di dalam aplikasi.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348311" cy="10287000"/>
            <a:chOff x="0" y="0"/>
            <a:chExt cx="12464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4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64415">
                  <a:moveTo>
                    <a:pt x="0" y="0"/>
                  </a:moveTo>
                  <a:lnTo>
                    <a:pt x="12464415" y="0"/>
                  </a:lnTo>
                  <a:lnTo>
                    <a:pt x="12464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68640" y="531495"/>
            <a:ext cx="8961120" cy="8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Flowchart Pengajuan Cuti (Sisi Pegawai)</a:t>
            </a:r>
          </a:p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Alur ini menjelaskan langkah-langkah saat pegawai ingin mengambil cuti: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Awal: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Pegawai melakukan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membuka menu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Pengajuan Cuti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Cek Sisa Kuota Awal: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menampilkan sisa kuota cuti. Jika kuota , muncul pesan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"Kuota Cuti Habis"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proses selesai.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Pengisian Form: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Jika kuota tersedia, pegawai mengisi formulir (jenis cuti, tanggal mulai/selesai, alasan).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Kalkulasi Otomatis: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secara otomatis menghitung jumlah hari kerja yang diajukan.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Validasi Jumlah Hari: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memeriksa apakah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Jumlah Hari Kerja  Sisa Kuota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Jika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Tidak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Muncul pesan error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"Pengajuan Melebihi Sisa Kuota"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diarahkan kembali mengisi form.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Jika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Ya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Pegawai menekan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Submit Pengajuan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Penyimpanan Data: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Data disimpan ke database, status diatur menjadi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"Menunggu Persetujuan"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dan notifikasi email otomatis dikirimkan ke Atasan.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348311" cy="10287000"/>
            <a:chOff x="0" y="0"/>
            <a:chExt cx="12464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4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64415">
                  <a:moveTo>
                    <a:pt x="0" y="0"/>
                  </a:moveTo>
                  <a:lnTo>
                    <a:pt x="12464415" y="0"/>
                  </a:lnTo>
                  <a:lnTo>
                    <a:pt x="12464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97240" y="1525238"/>
            <a:ext cx="8961120" cy="71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Flowchart Persetujuan Cuti (Sisi Atasan)</a:t>
            </a:r>
          </a:p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Alur ini menjelaskan bagaimana Atasan memproses permohonan cuti bawahannya: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Awal: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Atasan melakukan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masuk ke menu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Approval Cuti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Detail: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Atasan melihat daftar pengajuan berstatus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"Menunggu Persetujuan"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memilih salah satu rekam data, lalu meninjau detail pengajuan beserta sisa kuota pegawai bersangkutan.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Pengambilan Keputusan: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Opsi TOLAK: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Atasan wajib mengisi alasan penolakan. Sistem memperbarui status menjadi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"Ditolek"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lalu mengirim email pemberitahuan penolakan ke pegawai.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Opsi SETUJU: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memperbarui status menjadi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"Disetujui"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memotong kuota cuti pegawai secara otomatis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 database, lalu mengirim email pemberitahuan persetujuan ke pegawai.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Selesai: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Proses peninjauan selesai untuk rekam data tersebut.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348311" cy="10287000"/>
            <a:chOff x="0" y="0"/>
            <a:chExt cx="12464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4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64415">
                  <a:moveTo>
                    <a:pt x="0" y="0"/>
                  </a:moveTo>
                  <a:lnTo>
                    <a:pt x="12464415" y="0"/>
                  </a:lnTo>
                  <a:lnTo>
                    <a:pt x="12464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44840" y="1261577"/>
            <a:ext cx="8961120" cy="7678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Flowchart Tambah Pegawai (Sisi Admin/HRD)</a:t>
            </a:r>
          </a:p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Alur ini digunakan oleh HRD saat onboard pegawai baru agar bisa mengakses sistem E-Cuti: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Awal: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Admin/HRD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masuk ke menu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Master Data Pegawai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lalu klik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Tambah Pegawai Baru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Data: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HRD mengisi formulir data diri (Nama, NIK, Jabatan, Email) serta menentukan jumlah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Jatah Kuota Cuti Tahunan Awal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Validasi Unik (Duplikasi):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memeriksa apakah NIK atau Email sudah terdaftar di database.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Jika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Sudah Ada (Ya)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Muncul pesan error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"Data Sudah Ada"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kembali ke form input.</a:t>
            </a:r>
          </a:p>
          <a:p>
            <a:pPr algn="just" marL="746760" indent="-248920" lvl="2">
              <a:lnSpc>
                <a:spcPts val="3311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Jika </a:t>
            </a: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Belum Ada (Tidak)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Data pegawai baru disimpan ke database.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Generasi Akun: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menghasilkan (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generate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akun pengguna baru dan menetapkan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password default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 marL="289560" indent="-144780" lvl="1">
              <a:lnSpc>
                <a:spcPts val="3311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Selesai: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 mengirimkan email aktivasi atau notifikasi kredensial agar pegawai baru bisa login secara mandiri.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348311" cy="10287000"/>
            <a:chOff x="0" y="0"/>
            <a:chExt cx="1246441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441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64415">
                  <a:moveTo>
                    <a:pt x="0" y="0"/>
                  </a:moveTo>
                  <a:lnTo>
                    <a:pt x="12464415" y="0"/>
                  </a:lnTo>
                  <a:lnTo>
                    <a:pt x="124644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73440" y="566004"/>
            <a:ext cx="8961120" cy="906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Entity Relationship Diagram (ERD)</a:t>
            </a:r>
          </a:p>
          <a:p>
            <a:pPr algn="just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ERD ini menunjukkan struktur database relational yang digunakan untuk menyimpan data aplikasi.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Tabel users (Entitas Utama):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Menyimpan data profil pegawai (email sebagai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primary key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password, name, role, balance / sisa kuota cuti, position, vendor, service). Struktur ini mendukung model hierarki persetujuan bertingkat dengan adanya field self-relation: tl_email, spv_email, dan mgr_email yang merujuk kembali ke email di tabel users.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Tabel leave_requests (Pengajuan Cuti):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Mencatat setiap transaksi pengajuan cuti. Memiliki relasi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Many-to-One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 * ke 0..1 ) dengan tabel users berbasis user_email. Field penting meliputi start_date, end_date, total_days, status, dan kolom log persetujuan (approver_tl, approver_spv, approver_mgr, dan history berformat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jsonb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Tabel balance_history (Riwayat Kuota):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Mencatat riwayat perubahan kuota cuti pegawai (misal saat ada penambahan dari HRD atau pemotongan otomatis). Berelasi </a:t>
            </a:r>
            <a:r>
              <a:rPr lang="en-US" sz="24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Many-to-One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dengan tabel users.</a:t>
            </a:r>
          </a:p>
          <a:p>
            <a:pPr algn="just" marL="289560" indent="-144780" lvl="1">
              <a:lnSpc>
                <a:spcPts val="3311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Tabel Master (services dan holidays):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Tabel independen untuk mencatat jenis layanan/divisi perusahaan serta daftar hari libur nasional guna kalkulasi hari kerja efektif secara akurat.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8376" y="1602100"/>
            <a:ext cx="13820097" cy="7082799"/>
          </a:xfrm>
          <a:custGeom>
            <a:avLst/>
            <a:gdLst/>
            <a:ahLst/>
            <a:cxnLst/>
            <a:rect r="r" b="b" t="t" l="l"/>
            <a:pathLst>
              <a:path h="7082799" w="13820097">
                <a:moveTo>
                  <a:pt x="0" y="0"/>
                </a:moveTo>
                <a:lnTo>
                  <a:pt x="13820097" y="0"/>
                </a:lnTo>
                <a:lnTo>
                  <a:pt x="13820097" y="7082800"/>
                </a:lnTo>
                <a:lnTo>
                  <a:pt x="0" y="708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8376" y="705167"/>
            <a:ext cx="30225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Login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482672" y="1602100"/>
            <a:ext cx="3547315" cy="7082799"/>
            <a:chOff x="0" y="0"/>
            <a:chExt cx="934272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4272" cy="1865429"/>
            </a:xfrm>
            <a:custGeom>
              <a:avLst/>
              <a:gdLst/>
              <a:ahLst/>
              <a:cxnLst/>
              <a:rect r="r" b="b" t="t" l="l"/>
              <a:pathLst>
                <a:path h="1865429" w="934272">
                  <a:moveTo>
                    <a:pt x="37102" y="0"/>
                  </a:moveTo>
                  <a:lnTo>
                    <a:pt x="897170" y="0"/>
                  </a:lnTo>
                  <a:cubicBezTo>
                    <a:pt x="917661" y="0"/>
                    <a:pt x="934272" y="16611"/>
                    <a:pt x="934272" y="37102"/>
                  </a:cubicBezTo>
                  <a:lnTo>
                    <a:pt x="934272" y="1828327"/>
                  </a:lnTo>
                  <a:cubicBezTo>
                    <a:pt x="934272" y="1848818"/>
                    <a:pt x="917661" y="1865429"/>
                    <a:pt x="897170" y="1865429"/>
                  </a:cubicBezTo>
                  <a:lnTo>
                    <a:pt x="37102" y="1865429"/>
                  </a:lnTo>
                  <a:cubicBezTo>
                    <a:pt x="27262" y="1865429"/>
                    <a:pt x="17825" y="1861520"/>
                    <a:pt x="10867" y="1854562"/>
                  </a:cubicBezTo>
                  <a:cubicBezTo>
                    <a:pt x="3909" y="1847604"/>
                    <a:pt x="0" y="1838167"/>
                    <a:pt x="0" y="1828327"/>
                  </a:cubicBezTo>
                  <a:lnTo>
                    <a:pt x="0" y="37102"/>
                  </a:lnTo>
                  <a:cubicBezTo>
                    <a:pt x="0" y="16611"/>
                    <a:pt x="16611" y="0"/>
                    <a:pt x="371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4272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24564" y="1727305"/>
            <a:ext cx="3263533" cy="68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Login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Aktor: Semua Role (User, TL, SPV, MGR, dll.)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1.Pengguna membuka halaman lo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gin aplikasi.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menampilkan form login.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3.Pengguna memasukkan kredensial berupa **Email** dan **Password**.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4.Pengguna menekan tombol **"MASUK"**.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5.Sistem memvalidasi kredensial. Jika berhasil, pengguna akan diarahkan ke halaman Dashboard sesuai dengan _role_ masing-masing.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525" y="1602100"/>
            <a:ext cx="13758111" cy="7051032"/>
          </a:xfrm>
          <a:custGeom>
            <a:avLst/>
            <a:gdLst/>
            <a:ahLst/>
            <a:cxnLst/>
            <a:rect r="r" b="b" t="t" l="l"/>
            <a:pathLst>
              <a:path h="7051032" w="13758111">
                <a:moveTo>
                  <a:pt x="0" y="0"/>
                </a:moveTo>
                <a:lnTo>
                  <a:pt x="13758111" y="0"/>
                </a:lnTo>
                <a:lnTo>
                  <a:pt x="13758111" y="7051032"/>
                </a:lnTo>
                <a:lnTo>
                  <a:pt x="0" y="7051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48310"/>
            <a:ext cx="68062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Dashboard Role User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22538" y="1602100"/>
            <a:ext cx="3902043" cy="7082799"/>
            <a:chOff x="0" y="0"/>
            <a:chExt cx="1027699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7699" cy="1865429"/>
            </a:xfrm>
            <a:custGeom>
              <a:avLst/>
              <a:gdLst/>
              <a:ahLst/>
              <a:cxnLst/>
              <a:rect r="r" b="b" t="t" l="l"/>
              <a:pathLst>
                <a:path h="1865429" w="1027699">
                  <a:moveTo>
                    <a:pt x="33729" y="0"/>
                  </a:moveTo>
                  <a:lnTo>
                    <a:pt x="993969" y="0"/>
                  </a:lnTo>
                  <a:cubicBezTo>
                    <a:pt x="1002915" y="0"/>
                    <a:pt x="1011494" y="3554"/>
                    <a:pt x="1017820" y="9879"/>
                  </a:cubicBezTo>
                  <a:cubicBezTo>
                    <a:pt x="1024145" y="16204"/>
                    <a:pt x="1027699" y="24784"/>
                    <a:pt x="1027699" y="33729"/>
                  </a:cubicBezTo>
                  <a:lnTo>
                    <a:pt x="1027699" y="1831700"/>
                  </a:lnTo>
                  <a:cubicBezTo>
                    <a:pt x="1027699" y="1840645"/>
                    <a:pt x="1024145" y="1849224"/>
                    <a:pt x="1017820" y="1855550"/>
                  </a:cubicBezTo>
                  <a:cubicBezTo>
                    <a:pt x="1011494" y="1861875"/>
                    <a:pt x="1002915" y="1865429"/>
                    <a:pt x="993969" y="1865429"/>
                  </a:cubicBezTo>
                  <a:lnTo>
                    <a:pt x="33729" y="1865429"/>
                  </a:lnTo>
                  <a:cubicBezTo>
                    <a:pt x="24784" y="1865429"/>
                    <a:pt x="16204" y="1861875"/>
                    <a:pt x="9879" y="1855550"/>
                  </a:cubicBezTo>
                  <a:cubicBezTo>
                    <a:pt x="3554" y="1849224"/>
                    <a:pt x="0" y="1840645"/>
                    <a:pt x="0" y="1831700"/>
                  </a:cubicBezTo>
                  <a:lnTo>
                    <a:pt x="0" y="33729"/>
                  </a:lnTo>
                  <a:cubicBezTo>
                    <a:pt x="0" y="24784"/>
                    <a:pt x="3554" y="16204"/>
                    <a:pt x="9879" y="9879"/>
                  </a:cubicBezTo>
                  <a:cubicBezTo>
                    <a:pt x="16204" y="3554"/>
                    <a:pt x="24784" y="0"/>
                    <a:pt x="33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27699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435375" y="1736830"/>
            <a:ext cx="3547315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Dashboa</a:t>
            </a: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rd Role User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1.Setelah berhasil login, user akan masuk ke halaman Dashbo</a:t>
            </a: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ard.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menampilkan kartu informasi ringkasan cuti: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Sisa Cuti:Jumlah hari cuti yang masih tersedia.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Masuk Cuti Bersama:Jumlah cuti bersama pada tahun berjalan.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Menunggu:Jumlah permohonan cuti yang sedang menunggu persetujuan (aktif).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Disetujui:Total permohonan cuti yang telah disetujui.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Ditolak: Total permohonan cuti yang ditolak.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3.Sistem menampilkan tabel **Riwayat Pengajuan Terakhir**, yang memuat Tanggal Cuti, Alasan, Durasi, Posisi Saat Ini (Approval di tahap mana), dan Status (misal: APPROVED).</a:t>
            </a: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4.Sistem menampilkan Kalender Tim untuk melihat jadwal cuti rekan satu tim.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682" y="1652985"/>
            <a:ext cx="13621524" cy="6981031"/>
          </a:xfrm>
          <a:custGeom>
            <a:avLst/>
            <a:gdLst/>
            <a:ahLst/>
            <a:cxnLst/>
            <a:rect r="r" b="b" t="t" l="l"/>
            <a:pathLst>
              <a:path h="6981031" w="13621524">
                <a:moveTo>
                  <a:pt x="0" y="0"/>
                </a:moveTo>
                <a:lnTo>
                  <a:pt x="13621524" y="0"/>
                </a:lnTo>
                <a:lnTo>
                  <a:pt x="13621524" y="6981030"/>
                </a:lnTo>
                <a:lnTo>
                  <a:pt x="0" y="698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600" y="705167"/>
            <a:ext cx="74447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Pengajuan Cuti Role User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33350" y="1602100"/>
            <a:ext cx="3996637" cy="7082799"/>
            <a:chOff x="0" y="0"/>
            <a:chExt cx="1052612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2612" cy="1865429"/>
            </a:xfrm>
            <a:custGeom>
              <a:avLst/>
              <a:gdLst/>
              <a:ahLst/>
              <a:cxnLst/>
              <a:rect r="r" b="b" t="t" l="l"/>
              <a:pathLst>
                <a:path h="1865429" w="1052612">
                  <a:moveTo>
                    <a:pt x="32931" y="0"/>
                  </a:moveTo>
                  <a:lnTo>
                    <a:pt x="1019681" y="0"/>
                  </a:lnTo>
                  <a:cubicBezTo>
                    <a:pt x="1037869" y="0"/>
                    <a:pt x="1052612" y="14744"/>
                    <a:pt x="1052612" y="32931"/>
                  </a:cubicBezTo>
                  <a:lnTo>
                    <a:pt x="1052612" y="1832498"/>
                  </a:lnTo>
                  <a:cubicBezTo>
                    <a:pt x="1052612" y="1850685"/>
                    <a:pt x="1037869" y="1865429"/>
                    <a:pt x="1019681" y="1865429"/>
                  </a:cubicBezTo>
                  <a:lnTo>
                    <a:pt x="32931" y="1865429"/>
                  </a:lnTo>
                  <a:cubicBezTo>
                    <a:pt x="14744" y="1865429"/>
                    <a:pt x="0" y="1850685"/>
                    <a:pt x="0" y="1832498"/>
                  </a:cubicBezTo>
                  <a:lnTo>
                    <a:pt x="0" y="32931"/>
                  </a:lnTo>
                  <a:cubicBezTo>
                    <a:pt x="0" y="14744"/>
                    <a:pt x="14744" y="0"/>
                    <a:pt x="329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52612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98890" y="1727305"/>
            <a:ext cx="3689206" cy="655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Pengajuan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Cuti Role User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1.User memilih menu **"Ajukan Cuti"** dari navigasi sebel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ah kiri.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menampilkan modal/popup **"Form Cuti"**.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3.Di dalam form, sistem menampilkan Sisa Cuti saat ini dan secara otomatis menentukan struktur *Approval* (TL, SPV, MGR) berdasarkan Layanan/Unit Kerja pengguna (misal: CX EXCELLENCE).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4.User mengisi rentang waktu cuti: **Mulai** (Tanggal) dan **Selesai** (Tanggal). Sistem akan otomatis menghitung **Durasi** (hari).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5.User mengisi **Alasan Cuti** (contoh: Acara keluarga, sakit, dll.).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6.User menekan tombol **"Kirim Pengajuan"**.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7.Status pengajuan menjadi "Menunggu" dan akan diteruskan ke atasan terkait sesuai hierarki approval.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770" y="1666855"/>
            <a:ext cx="13572763" cy="6956041"/>
          </a:xfrm>
          <a:custGeom>
            <a:avLst/>
            <a:gdLst/>
            <a:ahLst/>
            <a:cxnLst/>
            <a:rect r="r" b="b" t="t" l="l"/>
            <a:pathLst>
              <a:path h="6956041" w="13572763">
                <a:moveTo>
                  <a:pt x="0" y="0"/>
                </a:moveTo>
                <a:lnTo>
                  <a:pt x="13572763" y="0"/>
                </a:lnTo>
                <a:lnTo>
                  <a:pt x="13572763" y="6956041"/>
                </a:lnTo>
                <a:lnTo>
                  <a:pt x="0" y="6956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5167"/>
            <a:ext cx="84380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Dashboard Role TL, SPV, MGR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09702" y="1602100"/>
            <a:ext cx="4020286" cy="7082799"/>
            <a:chOff x="0" y="0"/>
            <a:chExt cx="1058841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8841" cy="1865429"/>
            </a:xfrm>
            <a:custGeom>
              <a:avLst/>
              <a:gdLst/>
              <a:ahLst/>
              <a:cxnLst/>
              <a:rect r="r" b="b" t="t" l="l"/>
              <a:pathLst>
                <a:path h="1865429" w="1058841">
                  <a:moveTo>
                    <a:pt x="32737" y="0"/>
                  </a:moveTo>
                  <a:lnTo>
                    <a:pt x="1026104" y="0"/>
                  </a:lnTo>
                  <a:cubicBezTo>
                    <a:pt x="1034786" y="0"/>
                    <a:pt x="1043113" y="3449"/>
                    <a:pt x="1049252" y="9588"/>
                  </a:cubicBezTo>
                  <a:cubicBezTo>
                    <a:pt x="1055392" y="15728"/>
                    <a:pt x="1058841" y="24055"/>
                    <a:pt x="1058841" y="32737"/>
                  </a:cubicBezTo>
                  <a:lnTo>
                    <a:pt x="1058841" y="1832692"/>
                  </a:lnTo>
                  <a:cubicBezTo>
                    <a:pt x="1058841" y="1850772"/>
                    <a:pt x="1044184" y="1865429"/>
                    <a:pt x="1026104" y="1865429"/>
                  </a:cubicBezTo>
                  <a:lnTo>
                    <a:pt x="32737" y="1865429"/>
                  </a:lnTo>
                  <a:cubicBezTo>
                    <a:pt x="14657" y="1865429"/>
                    <a:pt x="0" y="1850772"/>
                    <a:pt x="0" y="1832692"/>
                  </a:cubicBezTo>
                  <a:lnTo>
                    <a:pt x="0" y="32737"/>
                  </a:lnTo>
                  <a:cubicBezTo>
                    <a:pt x="0" y="14657"/>
                    <a:pt x="14657" y="0"/>
                    <a:pt x="327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58841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75241" y="1727305"/>
            <a:ext cx="3712855" cy="591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Dashboa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rd Role TL, SPV, MGR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1.TL/SPV/MGR masuk ke Dashbo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ard. Tampilannya serupa dengan dashboard User (melihat sisa cuti pribadi).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2.Perbedaan utamanya ada pada panel menu sebelah kiri, di mana terdapat menu tambahan di bawah kategori **MANAJEMEN**, yaitu: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**Riwayat Team**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**Persetujuan** (terdapat badge notifikasi jika ada pengajuan baru).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275" y="1602100"/>
            <a:ext cx="13803263" cy="7082799"/>
          </a:xfrm>
          <a:custGeom>
            <a:avLst/>
            <a:gdLst/>
            <a:ahLst/>
            <a:cxnLst/>
            <a:rect r="r" b="b" t="t" l="l"/>
            <a:pathLst>
              <a:path h="7082799" w="13803263">
                <a:moveTo>
                  <a:pt x="0" y="0"/>
                </a:moveTo>
                <a:lnTo>
                  <a:pt x="13803263" y="0"/>
                </a:lnTo>
                <a:lnTo>
                  <a:pt x="13803263" y="7082800"/>
                </a:lnTo>
                <a:lnTo>
                  <a:pt x="0" y="708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5167"/>
            <a:ext cx="72569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Ajukan Cuti Role TL, SPV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482672" y="1602100"/>
            <a:ext cx="3547315" cy="7082799"/>
            <a:chOff x="0" y="0"/>
            <a:chExt cx="934272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4272" cy="1865429"/>
            </a:xfrm>
            <a:custGeom>
              <a:avLst/>
              <a:gdLst/>
              <a:ahLst/>
              <a:cxnLst/>
              <a:rect r="r" b="b" t="t" l="l"/>
              <a:pathLst>
                <a:path h="1865429" w="934272">
                  <a:moveTo>
                    <a:pt x="37102" y="0"/>
                  </a:moveTo>
                  <a:lnTo>
                    <a:pt x="897170" y="0"/>
                  </a:lnTo>
                  <a:cubicBezTo>
                    <a:pt x="917661" y="0"/>
                    <a:pt x="934272" y="16611"/>
                    <a:pt x="934272" y="37102"/>
                  </a:cubicBezTo>
                  <a:lnTo>
                    <a:pt x="934272" y="1828327"/>
                  </a:lnTo>
                  <a:cubicBezTo>
                    <a:pt x="934272" y="1848818"/>
                    <a:pt x="917661" y="1865429"/>
                    <a:pt x="897170" y="1865429"/>
                  </a:cubicBezTo>
                  <a:lnTo>
                    <a:pt x="37102" y="1865429"/>
                  </a:lnTo>
                  <a:cubicBezTo>
                    <a:pt x="27262" y="1865429"/>
                    <a:pt x="17825" y="1861520"/>
                    <a:pt x="10867" y="1854562"/>
                  </a:cubicBezTo>
                  <a:cubicBezTo>
                    <a:pt x="3909" y="1847604"/>
                    <a:pt x="0" y="1838167"/>
                    <a:pt x="0" y="1828327"/>
                  </a:cubicBezTo>
                  <a:lnTo>
                    <a:pt x="0" y="37102"/>
                  </a:lnTo>
                  <a:cubicBezTo>
                    <a:pt x="0" y="16611"/>
                    <a:pt x="16611" y="0"/>
                    <a:pt x="371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4272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24564" y="1727305"/>
            <a:ext cx="3263533" cy="49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Ajukan Cuti Role TL, SPV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1.Sama seperti User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biasa, TL/SPV juga dapat mengajukan cuti melalui menu **"Ajukan Cuti"**.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akan menyesuaikan jalur *Approval* berdasarkan role atasan tersebut (misalnya, untuk SPV, approval mungkin langsung ke MGR tanpa melewati TL).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572" y="1786577"/>
            <a:ext cx="13084230" cy="6713846"/>
          </a:xfrm>
          <a:custGeom>
            <a:avLst/>
            <a:gdLst/>
            <a:ahLst/>
            <a:cxnLst/>
            <a:rect r="r" b="b" t="t" l="l"/>
            <a:pathLst>
              <a:path h="6713846" w="13084230">
                <a:moveTo>
                  <a:pt x="0" y="0"/>
                </a:moveTo>
                <a:lnTo>
                  <a:pt x="13084230" y="0"/>
                </a:lnTo>
                <a:lnTo>
                  <a:pt x="13084230" y="6713846"/>
                </a:lnTo>
                <a:lnTo>
                  <a:pt x="0" y="671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5167"/>
            <a:ext cx="9144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Riwayat Team Role TL, SPV, MGR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773216" y="1602100"/>
            <a:ext cx="4256771" cy="7082799"/>
            <a:chOff x="0" y="0"/>
            <a:chExt cx="1121125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125" cy="1865429"/>
            </a:xfrm>
            <a:custGeom>
              <a:avLst/>
              <a:gdLst/>
              <a:ahLst/>
              <a:cxnLst/>
              <a:rect r="r" b="b" t="t" l="l"/>
              <a:pathLst>
                <a:path h="1865429" w="1121125">
                  <a:moveTo>
                    <a:pt x="30918" y="0"/>
                  </a:moveTo>
                  <a:lnTo>
                    <a:pt x="1090206" y="0"/>
                  </a:lnTo>
                  <a:cubicBezTo>
                    <a:pt x="1098407" y="0"/>
                    <a:pt x="1106271" y="3257"/>
                    <a:pt x="1112069" y="9056"/>
                  </a:cubicBezTo>
                  <a:cubicBezTo>
                    <a:pt x="1117867" y="14854"/>
                    <a:pt x="1121125" y="22718"/>
                    <a:pt x="1121125" y="30918"/>
                  </a:cubicBezTo>
                  <a:lnTo>
                    <a:pt x="1121125" y="1834510"/>
                  </a:lnTo>
                  <a:cubicBezTo>
                    <a:pt x="1121125" y="1842710"/>
                    <a:pt x="1117867" y="1850575"/>
                    <a:pt x="1112069" y="1856373"/>
                  </a:cubicBezTo>
                  <a:cubicBezTo>
                    <a:pt x="1106271" y="1862171"/>
                    <a:pt x="1098407" y="1865429"/>
                    <a:pt x="1090206" y="1865429"/>
                  </a:cubicBezTo>
                  <a:lnTo>
                    <a:pt x="30918" y="1865429"/>
                  </a:lnTo>
                  <a:cubicBezTo>
                    <a:pt x="22718" y="1865429"/>
                    <a:pt x="14854" y="1862171"/>
                    <a:pt x="9056" y="1856373"/>
                  </a:cubicBezTo>
                  <a:cubicBezTo>
                    <a:pt x="3257" y="1850575"/>
                    <a:pt x="0" y="1842710"/>
                    <a:pt x="0" y="1834510"/>
                  </a:cubicBezTo>
                  <a:lnTo>
                    <a:pt x="0" y="30918"/>
                  </a:lnTo>
                  <a:cubicBezTo>
                    <a:pt x="0" y="22718"/>
                    <a:pt x="3257" y="14854"/>
                    <a:pt x="9056" y="9056"/>
                  </a:cubicBezTo>
                  <a:cubicBezTo>
                    <a:pt x="14854" y="3257"/>
                    <a:pt x="22718" y="0"/>
                    <a:pt x="30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125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43486" y="1727305"/>
            <a:ext cx="3916233" cy="685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Riw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ayat Team Role TL, SPV, MGR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1.Atasan memilih menu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**"Riwayat Team"**.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menampilkan daftar seluruh pengajuan cuti dari anggota tim (Riwayat Tim &amp; Approval).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3.Informasi yang ditampilkan meliputi: Nama Karyawan, Tanggal &amp; Alasan Cuti, Durasi, Status Akhir (misal: Disetujui/Ditolak), Posisi Saat Ini (Checklist approval pada TL/SPV/MGR), dan Dokumen terkait.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4.Atasan dapat memantau progres persetujuan anggota timnya dari halaman ini.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075" y="1602100"/>
            <a:ext cx="13585197" cy="6979395"/>
          </a:xfrm>
          <a:custGeom>
            <a:avLst/>
            <a:gdLst/>
            <a:ahLst/>
            <a:cxnLst/>
            <a:rect r="r" b="b" t="t" l="l"/>
            <a:pathLst>
              <a:path h="6979395" w="13585197">
                <a:moveTo>
                  <a:pt x="0" y="0"/>
                </a:moveTo>
                <a:lnTo>
                  <a:pt x="13585197" y="0"/>
                </a:lnTo>
                <a:lnTo>
                  <a:pt x="13585197" y="6979395"/>
                </a:lnTo>
                <a:lnTo>
                  <a:pt x="0" y="6979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5167"/>
            <a:ext cx="86981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Persetujuan Role TL, SPV, MGR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962405" y="1602100"/>
            <a:ext cx="4067583" cy="7082799"/>
            <a:chOff x="0" y="0"/>
            <a:chExt cx="1071298" cy="1865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1297" cy="1865429"/>
            </a:xfrm>
            <a:custGeom>
              <a:avLst/>
              <a:gdLst/>
              <a:ahLst/>
              <a:cxnLst/>
              <a:rect r="r" b="b" t="t" l="l"/>
              <a:pathLst>
                <a:path h="1865429" w="1071297">
                  <a:moveTo>
                    <a:pt x="32356" y="0"/>
                  </a:moveTo>
                  <a:lnTo>
                    <a:pt x="1038941" y="0"/>
                  </a:lnTo>
                  <a:cubicBezTo>
                    <a:pt x="1047522" y="0"/>
                    <a:pt x="1055753" y="3409"/>
                    <a:pt x="1061820" y="9477"/>
                  </a:cubicBezTo>
                  <a:cubicBezTo>
                    <a:pt x="1067888" y="15545"/>
                    <a:pt x="1071297" y="23775"/>
                    <a:pt x="1071297" y="32356"/>
                  </a:cubicBezTo>
                  <a:lnTo>
                    <a:pt x="1071297" y="1833072"/>
                  </a:lnTo>
                  <a:cubicBezTo>
                    <a:pt x="1071297" y="1850942"/>
                    <a:pt x="1056811" y="1865429"/>
                    <a:pt x="1038941" y="1865429"/>
                  </a:cubicBezTo>
                  <a:lnTo>
                    <a:pt x="32356" y="1865429"/>
                  </a:lnTo>
                  <a:cubicBezTo>
                    <a:pt x="14486" y="1865429"/>
                    <a:pt x="0" y="1850942"/>
                    <a:pt x="0" y="1833072"/>
                  </a:cubicBezTo>
                  <a:lnTo>
                    <a:pt x="0" y="32356"/>
                  </a:lnTo>
                  <a:cubicBezTo>
                    <a:pt x="0" y="14486"/>
                    <a:pt x="14486" y="0"/>
                    <a:pt x="3235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1298" cy="190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32674" y="1727305"/>
            <a:ext cx="3727044" cy="71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Riw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ayat Team Role TL, SPV, MGR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Alur: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1.Atasan memilih menu</a:t>
            </a: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**"Riwayat Team"**.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2.Sistem menampilkan daftar seluruh pengajuan cuti dari anggota tim (Riwayat Tim &amp; Approval).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3.Informasi yang ditampilkan meliputi: Nama Karyawan, Tanggal &amp; Alasan Cuti, Durasi, Status Akhir (misal: Disetujui/Ditolak), Posisi Saat Ini (Checklist approval pada TL/SPV/MGR), dan Dokumen terkait.</a:t>
            </a:r>
          </a:p>
          <a:p>
            <a:pPr algn="l">
              <a:lnSpc>
                <a:spcPts val="2519"/>
              </a:lnSpc>
            </a:pP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4.Atasan dapat memantau progres persetujuan anggota timnya dari halaman ini.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DAHPDkp8XqU</dc:identifier>
  <dcterms:modified xsi:type="dcterms:W3CDTF">2011-08-01T06:04:30Z</dcterms:modified>
  <cp:revision>1</cp:revision>
  <dc:title>Alur Aplikasi E-Cuti.pptx</dc:title>
</cp:coreProperties>
</file>